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F2F2F2"/>
                </a:solidFill>
                <a:latin typeface="Calibri"/>
              </a:rPr>
              <a:t>Lift coefficient CL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</c:v>
                </c:pt>
              </c:strCache>
            </c:strRef>
          </c:tx>
          <c:spPr>
            <a:ln w="31750">
              <a:solidFill>
                <a:srgbClr val="4CC9F0"/>
              </a:solidFill>
            </a:ln>
          </c:spPr>
          <c:marker>
            <c:symbol val="circle"/>
            <c:size val="8"/>
            <c:spPr>
              <a:solidFill>
                <a:srgbClr val="4CC9F0"/>
              </a:solidFill>
              <a:ln>
                <a:solidFill>
                  <a:srgbClr val="4CC9F0"/>
                </a:solidFill>
              </a:ln>
            </c:spPr>
          </c:marker>
          <c:dLbls>
            <c:numFmt formatCode="0.00" sourceLinked="0"/>
            <c:txPr>
              <a:bodyPr/>
              <a:lstStyle/>
              <a:p>
                <a:pPr>
                  <a:defRPr sz="1100">
                    <a:solidFill>
                      <a:srgbClr val="4CC9F0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0°</c:v>
                </c:pt>
                <c:pt idx="1">
                  <c:v>4°</c:v>
                </c:pt>
                <c:pt idx="2">
                  <c:v>8°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0.3130428107129374</c:v>
                </c:pt>
                <c:pt idx="1">
                  <c:v>0.7130416913829118</c:v>
                </c:pt>
                <c:pt idx="2">
                  <c:v>0.951176810016494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Pod</c:v>
                </c:pt>
              </c:strCache>
            </c:strRef>
          </c:tx>
          <c:spPr>
            <a:ln w="31750">
              <a:solidFill>
                <a:srgbClr val="FF8A3D"/>
              </a:solidFill>
            </a:ln>
          </c:spPr>
          <c:marker>
            <c:symbol val="circle"/>
            <c:size val="8"/>
            <c:spPr>
              <a:solidFill>
                <a:srgbClr val="FF8A3D"/>
              </a:solidFill>
              <a:ln>
                <a:solidFill>
                  <a:srgbClr val="FF8A3D"/>
                </a:solidFill>
              </a:ln>
            </c:spPr>
          </c:marker>
          <c:dLbls>
            <c:numFmt formatCode="0.00" sourceLinked="0"/>
            <c:txPr>
              <a:bodyPr/>
              <a:lstStyle/>
              <a:p>
                <a:pPr>
                  <a:defRPr sz="1100">
                    <a:solidFill>
                      <a:srgbClr val="FF8A3D"/>
                    </a:solidFill>
                    <a:latin typeface="Calibri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0°</c:v>
                </c:pt>
                <c:pt idx="1">
                  <c:v>4°</c:v>
                </c:pt>
                <c:pt idx="2">
                  <c:v>8°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0.3099096053871684</c:v>
                </c:pt>
                <c:pt idx="1">
                  <c:v>0.6971190371999683</c:v>
                </c:pt>
                <c:pt idx="2">
                  <c:v>0.9110217207715523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200">
                <a:solidFill>
                  <a:srgbClr val="A8AEB5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3A3E43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200">
                <a:solidFill>
                  <a:srgbClr val="A8AEB5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A8AEB5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F2F2F2"/>
                </a:solidFill>
                <a:latin typeface="Calibri"/>
              </a:rPr>
              <a:t>Drag coefficient CD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</c:v>
                </c:pt>
              </c:strCache>
            </c:strRef>
          </c:tx>
          <c:spPr>
            <a:ln w="31750">
              <a:solidFill>
                <a:srgbClr val="4CC9F0"/>
              </a:solidFill>
            </a:ln>
          </c:spPr>
          <c:marker>
            <c:symbol val="circle"/>
            <c:size val="8"/>
            <c:spPr>
              <a:solidFill>
                <a:srgbClr val="4CC9F0"/>
              </a:solidFill>
              <a:ln>
                <a:solidFill>
                  <a:srgbClr val="4CC9F0"/>
                </a:solidFill>
              </a:ln>
            </c:spPr>
          </c:marker>
          <c:dLbls>
            <c:numFmt formatCode="0.000" sourceLinked="0"/>
            <c:txPr>
              <a:bodyPr/>
              <a:lstStyle/>
              <a:p>
                <a:pPr>
                  <a:defRPr sz="1100">
                    <a:solidFill>
                      <a:srgbClr val="4CC9F0"/>
                    </a:solidFill>
                    <a:latin typeface="Calibri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0°</c:v>
                </c:pt>
                <c:pt idx="1">
                  <c:v>4°</c:v>
                </c:pt>
                <c:pt idx="2">
                  <c:v>8°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0.04607736630485171</c:v>
                </c:pt>
                <c:pt idx="1">
                  <c:v>0.06782969783496318</c:v>
                </c:pt>
                <c:pt idx="2">
                  <c:v>0.12234875709917442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Pod</c:v>
                </c:pt>
              </c:strCache>
            </c:strRef>
          </c:tx>
          <c:spPr>
            <a:ln w="31750">
              <a:solidFill>
                <a:srgbClr val="FF8A3D"/>
              </a:solidFill>
            </a:ln>
          </c:spPr>
          <c:marker>
            <c:symbol val="circle"/>
            <c:size val="8"/>
            <c:spPr>
              <a:solidFill>
                <a:srgbClr val="FF8A3D"/>
              </a:solidFill>
              <a:ln>
                <a:solidFill>
                  <a:srgbClr val="FF8A3D"/>
                </a:solidFill>
              </a:ln>
            </c:spPr>
          </c:marker>
          <c:dLbls>
            <c:numFmt formatCode="0.000" sourceLinked="0"/>
            <c:txPr>
              <a:bodyPr/>
              <a:lstStyle/>
              <a:p>
                <a:pPr>
                  <a:defRPr sz="1100">
                    <a:solidFill>
                      <a:srgbClr val="FF8A3D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0°</c:v>
                </c:pt>
                <c:pt idx="1">
                  <c:v>4°</c:v>
                </c:pt>
                <c:pt idx="2">
                  <c:v>8°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0.06648415819181527</c:v>
                </c:pt>
                <c:pt idx="1">
                  <c:v>0.08668499459402723</c:v>
                </c:pt>
                <c:pt idx="2">
                  <c:v>0.14243557068670895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200">
                <a:solidFill>
                  <a:srgbClr val="A8AEB5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3A3E43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200">
                <a:solidFill>
                  <a:srgbClr val="A8AEB5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A8AEB5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F2F2F2"/>
                </a:solidFill>
                <a:latin typeface="Calibri"/>
              </a:rPr>
              <a:t>Lift-to-drag L/D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</c:v>
                </c:pt>
              </c:strCache>
            </c:strRef>
          </c:tx>
          <c:spPr>
            <a:ln w="31750">
              <a:solidFill>
                <a:srgbClr val="4CC9F0"/>
              </a:solidFill>
            </a:ln>
          </c:spPr>
          <c:marker>
            <c:symbol val="circle"/>
            <c:size val="8"/>
            <c:spPr>
              <a:solidFill>
                <a:srgbClr val="4CC9F0"/>
              </a:solidFill>
              <a:ln>
                <a:solidFill>
                  <a:srgbClr val="4CC9F0"/>
                </a:solidFill>
              </a:ln>
            </c:spPr>
          </c:marker>
          <c:dLbls>
            <c:numFmt formatCode="0.0" sourceLinked="0"/>
            <c:txPr>
              <a:bodyPr/>
              <a:lstStyle/>
              <a:p>
                <a:pPr>
                  <a:defRPr sz="1100">
                    <a:solidFill>
                      <a:srgbClr val="4CC9F0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0°</c:v>
                </c:pt>
                <c:pt idx="1">
                  <c:v>4°</c:v>
                </c:pt>
                <c:pt idx="2">
                  <c:v>8°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6.793852075698511</c:v>
                </c:pt>
                <c:pt idx="1">
                  <c:v>10.512234524733069</c:v>
                </c:pt>
                <c:pt idx="2">
                  <c:v>7.774307092024495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Pod</c:v>
                </c:pt>
              </c:strCache>
            </c:strRef>
          </c:tx>
          <c:spPr>
            <a:ln w="31750">
              <a:solidFill>
                <a:srgbClr val="FF8A3D"/>
              </a:solidFill>
            </a:ln>
          </c:spPr>
          <c:marker>
            <c:symbol val="circle"/>
            <c:size val="8"/>
            <c:spPr>
              <a:solidFill>
                <a:srgbClr val="FF8A3D"/>
              </a:solidFill>
              <a:ln>
                <a:solidFill>
                  <a:srgbClr val="FF8A3D"/>
                </a:solidFill>
              </a:ln>
            </c:spPr>
          </c:marker>
          <c:dLbls>
            <c:numFmt formatCode="0.0" sourceLinked="0"/>
            <c:txPr>
              <a:bodyPr/>
              <a:lstStyle/>
              <a:p>
                <a:pPr>
                  <a:defRPr sz="1100">
                    <a:solidFill>
                      <a:srgbClr val="FF8A3D"/>
                    </a:solidFill>
                    <a:latin typeface="Calibri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0°</c:v>
                </c:pt>
                <c:pt idx="1">
                  <c:v>4°</c:v>
                </c:pt>
                <c:pt idx="2">
                  <c:v>8°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4.661405270305742</c:v>
                </c:pt>
                <c:pt idx="1">
                  <c:v>8.041980511907434</c:v>
                </c:pt>
                <c:pt idx="2">
                  <c:v>6.396026753565444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200">
                <a:solidFill>
                  <a:srgbClr val="A8AEB5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3A3E43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200">
                <a:solidFill>
                  <a:srgbClr val="A8AEB5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A8AEB5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Payload-pod variant of the Stallion VTOL, same CFD pipeline and settings as the clean airframe, so the differences are the pod and fitted motors.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numbers at the cruise angle (4°). Coefficients use the same reference area, chord and moment centre for both configurations.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GLB is a CAD assembly: 96 parts including internal electronics and spars, many touching or overlapping. It cannot be meshed directly, so it was shrink-wrapped into one solid skin.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Identical mesh sizing and solver settings for both configurations.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Lift is almost identical; drag is higher at every angle, so L/D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table. Forces in newtons at 20 m/s for this aircraft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Blue = suction (low pressure) on the wing's upper surface, the source of lift; it grows with angle. Red = stagnation at the nose, pod front and leading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pod's blunt front stagnates the flow (red); its chamfered sides accelerate it (blue), and the flat rear leaves a small low-pressure wake. That is where the extra drag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Streamlines bend upward ahead of the wing (upwash) and downward behind it (downwash). Turning the air downward is what produces lift.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Airfoil section at 0.55 m span. The suction peak strengthens and moves forward as the angle 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Higher pressure under the wing spills around the tips and rolls up into two counter-rotating vortices: the source of induced drag.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angle, same colour scale. The pod is the only obvious change in the surface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what the results can and cannot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oa4_2-surface-pressure_iso.png"/>
          <p:cNvPicPr>
            <a:picLocks noChangeAspect="1"/>
          </p:cNvPicPr>
          <p:nvPr/>
        </p:nvPicPr>
        <p:blipFill>
          <a:blip r:embed="rId3"/>
          <a:srcRect l="27000"/>
          <a:stretch>
            <a:fillRect/>
          </a:stretch>
        </p:blipFill>
        <p:spPr>
          <a:xfrm>
            <a:off x="5902249" y="0"/>
            <a:ext cx="6289446" cy="4846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82880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A8AEB5"/>
                </a:solidFill>
                <a:latin typeface="Calibri"/>
              </a:rPr>
              <a:t>Stallion VTOL</a:t>
            </a:r>
          </a:p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2F2F2"/>
                </a:solidFill>
                <a:latin typeface="Calibri"/>
              </a:rPr>
              <a:t>Payload-pod CFD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2F2F2"/>
                </a:solidFill>
                <a:latin typeface="Calibri"/>
              </a:rPr>
              <a:t>External aerodynamics at 20 m/s, angle of attack 0, 4, 8°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A8AEB5"/>
                </a:solidFill>
                <a:latin typeface="Calibri"/>
              </a:rPr>
              <a:t>Ansys Fluent 2026 R1 Student · k-ω SST · compared with the clean airframe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The pod costs drag, not lift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Cruise point: 4° angle of attack, 20 m/s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2A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01952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8A3D"/>
                </a:solidFill>
                <a:latin typeface="Calibri"/>
              </a:rPr>
              <a:t>+28%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A8AEB5"/>
                </a:solidFill>
                <a:latin typeface="Calibri"/>
              </a:rPr>
              <a:t>drag coefficient
0.0678 → 0.0867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2A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901952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8A3D"/>
                </a:solidFill>
                <a:latin typeface="Calibri"/>
              </a:rPr>
              <a:t>+1.02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6974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A8AEB5"/>
                </a:solidFill>
                <a:latin typeface="Calibri"/>
              </a:rPr>
              <a:t>extra drag at 20 m/s
3.67 → 4.69 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2A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01952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8A3D"/>
                </a:solidFill>
                <a:latin typeface="Calibri"/>
              </a:rPr>
              <a:t>-23%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974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A8AEB5"/>
                </a:solidFill>
                <a:latin typeface="Calibri"/>
              </a:rPr>
              <a:t>lift-to-drag ratio
10.5 → 8.0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7373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2A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901952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4CC9F0"/>
                </a:solidFill>
                <a:latin typeface="Calibri"/>
              </a:rPr>
              <a:t>-2%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6974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A8AEB5"/>
                </a:solidFill>
                <a:latin typeface="Calibri"/>
              </a:rPr>
              <a:t>lift coefficient
0.713 → 0.697</a:t>
            </a:r>
          </a:p>
        </p:txBody>
      </p:sp>
      <p:pic>
        <p:nvPicPr>
          <p:cNvPr id="16" name="Picture 15" descr="aoa4_2-surface-pressure_p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4876800" cy="274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0" y="3840480"/>
            <a:ext cx="5943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2F2F2"/>
                </a:solidFill>
                <a:latin typeface="Calibri"/>
              </a:rPr>
              <a:t>What the numbers say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2F2F2"/>
                </a:solidFill>
                <a:latin typeface="Calibri"/>
              </a:rPr>
              <a:t>The blunt pod (and the boom-front motors) add frontal area and wetted surface, so drag rises at every angle.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2F2F2"/>
                </a:solidFill>
                <a:latin typeface="Calibri"/>
              </a:rPr>
              <a:t>Lift is nearly unchanged: the wing does the lifting and the pod barely alters its loading.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Clean = original airframe STL · Pod = equipped GLB: payload pod plus tilt motors on the booms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Geometry: 96-part CAD model → one watertight skin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Repair test on stallion_v2_equipped_with_pod.glb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58521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737360"/>
                <a:gridCol w="1920240"/>
              </a:tblGrid>
              <a:tr h="47026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2F2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F2F2"/>
                          </a:solidFill>
                          <a:latin typeface="Calibri"/>
                        </a:rPr>
                        <a:t>Raw GLB</a:t>
                      </a:r>
                    </a:p>
                  </a:txBody>
                  <a:tcPr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F2F2"/>
                          </a:solidFill>
                          <a:latin typeface="Calibri"/>
                        </a:rPr>
                        <a:t>Wrapped skin</a:t>
                      </a:r>
                    </a:p>
                  </a:txBody>
                  <a:tcPr>
                    <a:solidFill>
                      <a:srgbClr val="3A3E43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F2F2"/>
                          </a:solidFill>
                          <a:latin typeface="Calibri"/>
                        </a:rPr>
                        <a:t>Separate parts / bodies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F2F2"/>
                          </a:solidFill>
                          <a:latin typeface="Calibri"/>
                        </a:rPr>
                        <a:t>96 / 251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8A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F2F2"/>
                          </a:solidFill>
                          <a:latin typeface="Calibri"/>
                        </a:rPr>
                        <a:t>Non-manifold edges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F2F2"/>
                          </a:solidFill>
                          <a:latin typeface="Calibri"/>
                        </a:rPr>
                        <a:t>2,397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8A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F2F2"/>
                          </a:solidFill>
                          <a:latin typeface="Calibri"/>
                        </a:rPr>
                        <a:t>Open edges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F2F2"/>
                          </a:solidFill>
                          <a:latin typeface="Calibri"/>
                        </a:rPr>
                        <a:t>76 (in GLB)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8A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F2F2"/>
                          </a:solidFill>
                          <a:latin typeface="Calibri"/>
                        </a:rPr>
                        <a:t>Fuselage interior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F2F2"/>
                          </a:solidFill>
                          <a:latin typeface="Calibri"/>
                        </a:rPr>
                        <a:t>hollow, open hatches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8A3D"/>
                          </a:solidFill>
                          <a:latin typeface="Calibri"/>
                        </a:rPr>
                        <a:t>solid (gaps ≤ 24 mm sealed)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F2F2"/>
                          </a:solidFill>
                          <a:latin typeface="Calibri"/>
                        </a:rPr>
                        <a:t>Facets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2F2F2"/>
                          </a:solidFill>
                          <a:latin typeface="Calibri"/>
                        </a:rPr>
                        <a:t>691,670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8A3D"/>
                          </a:solidFill>
                          <a:latin typeface="Calibri"/>
                        </a:rPr>
                        <a:t>298,872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F2F2"/>
                          </a:solidFill>
                          <a:latin typeface="Calibri"/>
                        </a:rPr>
                        <a:t>Max shape change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2F2F2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8A3D"/>
                          </a:solidFill>
                          <a:latin typeface="Calibri"/>
                        </a:rPr>
                        <a:t>2.3 mm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66360"/>
            <a:ext cx="5852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A8AEB5"/>
                </a:solidFill>
                <a:latin typeface="Calibri"/>
              </a:rPr>
              <a:t>Voxel shrink-wrap at 1.5 mm: air flood-filled from outside, signed-distance skin from the real facets, then decimated to the Student-licence size. A ray test confirms no air pockets inside the body.</a:t>
            </a:r>
          </a:p>
        </p:txBody>
      </p:sp>
      <p:pic>
        <p:nvPicPr>
          <p:cNvPr id="6" name="Picture 5" descr="aoa4_1-geometry-mesh_mesh-close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45920"/>
            <a:ext cx="4983480" cy="28032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452228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Wrapped skin and the CFD surface mesh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Mesh and solver setup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Same settings for both configurations; only the geometry changes</a:t>
            </a:r>
          </a:p>
        </p:txBody>
      </p:sp>
      <p:pic>
        <p:nvPicPr>
          <p:cNvPr id="4" name="Picture 3" descr="aoa4_7-wall-yplus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5349240" cy="30089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472802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Wall y+ ≈ 5–25: SST with wall treatment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8A3D"/>
                </a:solidFill>
                <a:latin typeface="Calibri"/>
              </a:rPr>
              <a:t>Mesh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69164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poly-hexcore, 561,669 cells (clean 513,695), 3 prism layers (first cell 0.5 mm), surface 5.5–26 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8A3D"/>
                </a:solidFill>
                <a:latin typeface="Calibri"/>
              </a:rPr>
              <a:t>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46888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box 4 m upstream, 8 m downstream, 4 m to the sides and top/bottom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8A3D"/>
                </a:solidFill>
                <a:latin typeface="Calibri"/>
              </a:rPr>
              <a:t>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324612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20 m/s, sea-level air (ρ 1.225 kg/m³), steady, incompressible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8A3D"/>
                </a:solidFill>
                <a:latin typeface="Calibr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402336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pressure-based coupled solver, k-ω SST turbulence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8A3D"/>
                </a:solidFill>
                <a:latin typeface="Calibri"/>
              </a:rPr>
              <a:t>Angles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80060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0, 4, 8° by tilting the free stream; one mesh for 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8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8A3D"/>
                </a:solidFill>
                <a:latin typeface="Calibri"/>
              </a:rPr>
              <a:t>Convergence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7784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stop when CL and CD change &lt; 0.2% per 50 iterations (150–600)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Aerodynamic coefficients: clean vs pod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Whole aircraft, 20 m/s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361188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279392" y="1600200"/>
          <a:ext cx="3611880" cy="40233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010144" y="1600200"/>
          <a:ext cx="3611880" cy="40233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Unconverged angles (8°) report the mean of the last 200 iterations: the flow there is unsteady, likely early separation.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Force results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Reference area 0.2207 m², chord 0.1641 m, moment centre at the wing quarter chord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097280"/>
                <a:gridCol w="1188720"/>
                <a:gridCol w="1097280"/>
                <a:gridCol w="1005840"/>
                <a:gridCol w="1188720"/>
                <a:gridCol w="1188720"/>
                <a:gridCol w="2377440"/>
              </a:tblGrid>
              <a:tr h="600891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2F2F2"/>
                          </a:solidFill>
                          <a:latin typeface="Calibri"/>
                        </a:rPr>
                        <a:t>AoA</a:t>
                      </a:r>
                    </a:p>
                  </a:txBody>
                  <a:tcPr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2F2F2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2F2F2"/>
                          </a:solidFill>
                          <a:latin typeface="Calibri"/>
                        </a:rPr>
                        <a:t>CL</a:t>
                      </a:r>
                    </a:p>
                  </a:txBody>
                  <a:tcPr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2F2F2"/>
                          </a:solidFill>
                          <a:latin typeface="Calibri"/>
                        </a:rPr>
                        <a:t>CD</a:t>
                      </a:r>
                    </a:p>
                  </a:txBody>
                  <a:tcPr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2F2F2"/>
                          </a:solidFill>
                          <a:latin typeface="Calibri"/>
                        </a:rPr>
                        <a:t>Cm</a:t>
                      </a:r>
                    </a:p>
                  </a:txBody>
                  <a:tcPr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2F2F2"/>
                          </a:solidFill>
                          <a:latin typeface="Calibri"/>
                        </a:rPr>
                        <a:t>L/D</a:t>
                      </a:r>
                    </a:p>
                  </a:txBody>
                  <a:tcPr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2F2F2"/>
                          </a:solidFill>
                          <a:latin typeface="Calibri"/>
                        </a:rPr>
                        <a:t>Lift N</a:t>
                      </a:r>
                    </a:p>
                  </a:txBody>
                  <a:tcPr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2F2F2"/>
                          </a:solidFill>
                          <a:latin typeface="Calibri"/>
                        </a:rPr>
                        <a:t>Drag N</a:t>
                      </a:r>
                    </a:p>
                  </a:txBody>
                  <a:tcPr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2F2F2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3A3E43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0°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CC9F0"/>
                          </a:solidFill>
                          <a:latin typeface="Calibri"/>
                        </a:rPr>
                        <a:t>Clean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0.313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0.0461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6.8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16.9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2.49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converged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0°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8A3D"/>
                          </a:solidFill>
                          <a:latin typeface="Calibri"/>
                        </a:rPr>
                        <a:t>Pod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0.310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0.0665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0.010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4.7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16.8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3.59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converged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4°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CC9F0"/>
                          </a:solidFill>
                          <a:latin typeface="Calibri"/>
                        </a:rPr>
                        <a:t>Clean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0.713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0.0678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-0.043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10.5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38.6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3.67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converged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4°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8A3D"/>
                          </a:solidFill>
                          <a:latin typeface="Calibri"/>
                        </a:rPr>
                        <a:t>Pod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0.697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0.0867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-0.047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37.7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4.69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converged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8°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CC9F0"/>
                          </a:solidFill>
                          <a:latin typeface="Calibri"/>
                        </a:rPr>
                        <a:t>Clean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0.951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0.1223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-0.128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7.8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51.4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6.61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unsteady (mean)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8°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8A3D"/>
                          </a:solidFill>
                          <a:latin typeface="Calibri"/>
                        </a:rPr>
                        <a:t>Pod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0.911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0.1424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-0.135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6.4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49.3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7.70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unsteady (mean)</a:t>
                      </a:r>
                    </a:p>
                  </a:txBody>
                  <a:tcPr>
                    <a:solidFill>
                      <a:srgbClr val="2A2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Surface pressure grows with angle of attack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Pressure coefficient on the pod configuration</a:t>
            </a:r>
          </a:p>
        </p:txBody>
      </p:sp>
      <p:pic>
        <p:nvPicPr>
          <p:cNvPr id="4" name="Picture 3" descr="aoa0_2-surface-pressure_i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3611880" cy="20316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42194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0°  ·  CL 0.31</a:t>
            </a:r>
          </a:p>
        </p:txBody>
      </p:sp>
      <p:pic>
        <p:nvPicPr>
          <p:cNvPr id="6" name="Picture 5" descr="aoa4_2-surface-pressure_is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737360"/>
            <a:ext cx="3611880" cy="20316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79392" y="3842194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4°  ·  CL 0.70</a:t>
            </a:r>
          </a:p>
        </p:txBody>
      </p:sp>
      <p:pic>
        <p:nvPicPr>
          <p:cNvPr id="8" name="Picture 7" descr="aoa8_2-surface-pressure_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4" y="1737360"/>
            <a:ext cx="3611880" cy="20316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10144" y="3842194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8°  ·  CL 0.91</a:t>
            </a:r>
          </a:p>
        </p:txBody>
      </p:sp>
      <p:pic>
        <p:nvPicPr>
          <p:cNvPr id="10" name="Picture 9" descr="aoa4_2-surface-pressure_t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343400"/>
            <a:ext cx="3738880" cy="2103120"/>
          </a:xfrm>
          <a:prstGeom prst="rect">
            <a:avLst/>
          </a:prstGeom>
        </p:spPr>
      </p:pic>
      <p:pic>
        <p:nvPicPr>
          <p:cNvPr id="11" name="Picture 10" descr="aoa4_2-surface-pressure_bott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4343400"/>
            <a:ext cx="3738880" cy="2103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49640" y="443484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8AEB5"/>
                </a:solidFill>
                <a:latin typeface="Calibri"/>
              </a:rPr>
              <a:t>4°: top and underside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A8AEB5"/>
                </a:solidFill>
                <a:latin typeface="Calibri"/>
              </a:rPr>
              <a:t>Suction covers most of the upper wing; the underside sits near free-stream pressure, apart from the pod nose.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Flow around the pod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Underside close-up at 4°</a:t>
            </a:r>
          </a:p>
        </p:txBody>
      </p:sp>
      <p:pic>
        <p:nvPicPr>
          <p:cNvPr id="4" name="Picture 3" descr="aoa4_2-surface-pressure_p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486400" cy="308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80517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Pressure coefficient</a:t>
            </a:r>
          </a:p>
        </p:txBody>
      </p:sp>
      <p:pic>
        <p:nvPicPr>
          <p:cNvPr id="6" name="Picture 5" descr="aoa4_3-streamlines_p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45920"/>
            <a:ext cx="548640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72200" y="480517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Streamlines released ahead of the nose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8A3D"/>
                </a:solidFill>
                <a:latin typeface="Calibri"/>
              </a:rPr>
              <a:t>Design hint: </a:t>
            </a:r>
            <a:r>
              <a:rPr sz="1500" b="0" i="0">
                <a:solidFill>
                  <a:srgbClr val="F2F2F2"/>
                </a:solidFill>
                <a:latin typeface="Calibri"/>
              </a:rPr>
              <a:t>a rounder nose and a tapered tail on the pod would cut its pressure drag; mounting it closer to the fuselage reduces the exposed area.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Streamlines over the aircraft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Colour = local speed, 4°</a:t>
            </a:r>
          </a:p>
        </p:txBody>
      </p:sp>
      <p:pic>
        <p:nvPicPr>
          <p:cNvPr id="4" name="Picture 3" descr="aoa4_3-streamlines_i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498079" cy="4217669"/>
          </a:xfrm>
          <a:prstGeom prst="rect">
            <a:avLst/>
          </a:prstGeom>
        </p:spPr>
      </p:pic>
      <p:pic>
        <p:nvPicPr>
          <p:cNvPr id="5" name="Picture 4" descr="aoa4_3-streamlines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600200"/>
            <a:ext cx="3429000" cy="19288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3602164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Top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3840480"/>
            <a:ext cx="34290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A8AEB5"/>
                </a:solidFill>
                <a:latin typeface="Calibri"/>
              </a:rPr>
              <a:t>Flow speeds up over the wing (orange) and slows near the nose and pod (blue).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A8AEB5"/>
                </a:solidFill>
                <a:latin typeface="Calibri"/>
              </a:rPr>
              <a:t>The tail boom and V-tail sit in the wing's downwash.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Wing section: flow speed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Cut at 0.55 m span, outboard of the motor boom</a:t>
            </a:r>
          </a:p>
        </p:txBody>
      </p:sp>
      <p:pic>
        <p:nvPicPr>
          <p:cNvPr id="4" name="Picture 3" descr="aoa4_4-wing-section_section.png"/>
          <p:cNvPicPr>
            <a:picLocks noChangeAspect="1"/>
          </p:cNvPicPr>
          <p:nvPr/>
        </p:nvPicPr>
        <p:blipFill>
          <a:blip r:embed="rId3"/>
          <a:srcRect l="20000" r="12000" t="22000" b="22000"/>
          <a:stretch>
            <a:fillRect/>
          </a:stretch>
        </p:blipFill>
        <p:spPr>
          <a:xfrm>
            <a:off x="548640" y="1600200"/>
            <a:ext cx="6949440" cy="3219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892577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4° · colour = speed, 0 (blue) to 28 m/s (red), free stream 20 m/s</a:t>
            </a:r>
          </a:p>
        </p:txBody>
      </p:sp>
      <p:pic>
        <p:nvPicPr>
          <p:cNvPr id="6" name="Picture 5" descr="aoa0_4-wing-section_section.png"/>
          <p:cNvPicPr>
            <a:picLocks noChangeAspect="1"/>
          </p:cNvPicPr>
          <p:nvPr/>
        </p:nvPicPr>
        <p:blipFill>
          <a:blip r:embed="rId4"/>
          <a:srcRect l="20000" r="12000" t="22000" b="22000"/>
          <a:stretch>
            <a:fillRect/>
          </a:stretch>
        </p:blipFill>
        <p:spPr>
          <a:xfrm>
            <a:off x="8092440" y="1600200"/>
            <a:ext cx="3566160" cy="16519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2440" y="3325323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0°</a:t>
            </a:r>
          </a:p>
        </p:txBody>
      </p:sp>
      <p:pic>
        <p:nvPicPr>
          <p:cNvPr id="8" name="Picture 7" descr="aoa8_4-wing-section_section.png"/>
          <p:cNvPicPr>
            <a:picLocks noChangeAspect="1"/>
          </p:cNvPicPr>
          <p:nvPr/>
        </p:nvPicPr>
        <p:blipFill>
          <a:blip r:embed="rId5"/>
          <a:srcRect l="20000" r="12000" t="22000" b="22000"/>
          <a:stretch>
            <a:fillRect/>
          </a:stretch>
        </p:blipFill>
        <p:spPr>
          <a:xfrm>
            <a:off x="8092440" y="3703320"/>
            <a:ext cx="3566160" cy="16519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5428443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8°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978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Fast flow over the upper surface (red) is the suction that lifts the wing; the thin trailing wake is profile drag. At 8° the upper boundary layer thickens toward the trailing edge, matching the unsteady forces.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Wing-tip vortices and wake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4°, pod configuration</a:t>
            </a:r>
          </a:p>
        </p:txBody>
      </p:sp>
      <p:pic>
        <p:nvPicPr>
          <p:cNvPr id="4" name="Picture 3" descr="aoa4_5-tip-vortices_t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486400" cy="308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80517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Tip streamlines, coloured by streamwise vorticity</a:t>
            </a:r>
          </a:p>
        </p:txBody>
      </p:sp>
      <p:pic>
        <p:nvPicPr>
          <p:cNvPr id="6" name="Picture 5" descr="aoa4_6-wake_w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45920"/>
            <a:ext cx="548640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72200" y="480517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Streamwise vorticity 0.1 m and 0.4 m behind the 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2F2F2"/>
                </a:solidFill>
                <a:latin typeface="Calibri"/>
              </a:rPr>
              <a:t>Red and blue mark opposite rotation. The pair weakens downstream; part of that is the coarse far-field mesh (student cell limit), so the far wake is under-resolved.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Clean vs pod at 4°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Underside pressure coefficient, same colour scale</a:t>
            </a:r>
          </a:p>
        </p:txBody>
      </p:sp>
      <p:pic>
        <p:nvPicPr>
          <p:cNvPr id="4" name="Picture 3" descr="aoa4_2-surface-pressure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486400" cy="308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80517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Clean · CD 0.0678 · L/D 10.5</a:t>
            </a:r>
          </a:p>
        </p:txBody>
      </p:sp>
      <p:pic>
        <p:nvPicPr>
          <p:cNvPr id="6" name="Picture 5" descr="aoa4_2-surface-pressure_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45920"/>
            <a:ext cx="548640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72200" y="480517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Pod · CD 0.0867 · L/D 8.0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5780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8A3D"/>
                </a:solidFill>
                <a:latin typeface="Calibri"/>
              </a:rPr>
              <a:t>Everything else looks the same: </a:t>
            </a:r>
            <a:r>
              <a:rPr sz="1500" b="0" i="0">
                <a:solidFill>
                  <a:srgbClr val="F2F2F2"/>
                </a:solidFill>
                <a:latin typeface="Calibri"/>
              </a:rPr>
              <a:t>the wing loading barely changes (CL 0.713 vs 0.697), while the pod's stagnation front and suction edges plus the boom-front motors add 1.02 N of drag at 20 m/s.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Confidence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2A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63640" y="146304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2A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4CC9F0"/>
                </a:solidFill>
                <a:latin typeface="Calibri"/>
              </a:rPr>
              <a:t>Good for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2F2F2"/>
                </a:solidFill>
                <a:latin typeface="Calibri"/>
              </a:rPr>
              <a:t>Comparing configurations: both use identical mesh settings, solver and reference values.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2F2F2"/>
                </a:solidFill>
                <a:latin typeface="Calibri"/>
              </a:rPr>
              <a:t>Trends with angle of attack, pressure distribution, where drag comes from.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2F2F2"/>
                </a:solidFill>
                <a:latin typeface="Calibri"/>
              </a:rPr>
              <a:t>Ballpark L/D and lift at cruise.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691640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8A3D"/>
                </a:solidFill>
                <a:latin typeface="Calibri"/>
              </a:rPr>
              <a:t>Limits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2F2F2"/>
                </a:solidFill>
                <a:latin typeface="Calibri"/>
              </a:rPr>
              <a:t>~0.56M cells (student limit): absolute drag is approximate; the far wake is coarse.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2F2F2"/>
                </a:solidFill>
                <a:latin typeface="Calibri"/>
              </a:rPr>
              <a:t>Propellers not modelled (motors as static shapes).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2F2F2"/>
                </a:solidFill>
                <a:latin typeface="Calibri"/>
              </a:rPr>
              <a:t>Small gaps (hatch seams, under 24 mm slots) sealed by the wrap.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2F2F2"/>
                </a:solidFill>
                <a:latin typeface="Calibri"/>
              </a:rPr>
              <a:t>8°: unsteady, reported as a time average.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2F2F2"/>
                </a:solidFill>
                <a:latin typeface="Calibri"/>
              </a:rPr>
              <a:t>Next: </a:t>
            </a:r>
            <a:r>
              <a:rPr sz="1500" b="0" i="0">
                <a:solidFill>
                  <a:srgbClr val="F2F2F2"/>
                </a:solidFill>
                <a:latin typeface="Calibri"/>
              </a:rPr>
              <a:t>refine near the pod, add a 10–12° point for stall, and try a faired pod shape.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